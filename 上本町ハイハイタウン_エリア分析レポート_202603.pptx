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eiryo"/>
              </a:defRPr>
            </a:pPr>
            <a:r>
              <a:t>🏠 上本町ハイハイタウン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D4A01E"/>
                </a:solidFill>
                <a:latin typeface="Meiryo"/>
              </a:defRPr>
            </a:pPr>
            <a:r>
              <a:t>エリア分析レポート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566160"/>
            <a:ext cx="393192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Meiryo"/>
              </a:defRPr>
            </a:pPr>
            <a:r>
              <a:t>不動産コンサルタント  美玖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Meiryo"/>
              </a:defRPr>
            </a:pPr>
            <a:r>
              <a:t>2026年3月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📋 目次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09090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280160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298448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eiryo"/>
              </a:defRPr>
            </a:pPr>
            <a:r>
              <a:t>ハイハイタウンとは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618488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36776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eiryo"/>
              </a:defRPr>
            </a:pPr>
            <a:r>
              <a:t>アクセスの良さ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56816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75104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eiryo"/>
              </a:defRPr>
            </a:pPr>
            <a:r>
              <a:t>建物スペック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295144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1343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eiryo"/>
              </a:defRPr>
            </a:pPr>
            <a:r>
              <a:t>周辺施設マップ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633472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651760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eiryo"/>
              </a:defRPr>
            </a:pPr>
            <a:r>
              <a:t>現在の売出し状況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971800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990088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eiryo"/>
              </a:defRPr>
            </a:pPr>
            <a:r>
              <a:t>価格帯分布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310128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328416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eiryo"/>
              </a:defRPr>
            </a:pPr>
            <a:r>
              <a:t>㎡単価の分析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648456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666744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eiryo"/>
              </a:defRPr>
            </a:pPr>
            <a:r>
              <a:t>築年数と価格の関係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1280160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298448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eiryo"/>
              </a:defRPr>
            </a:pPr>
            <a:r>
              <a:t>賃貸利回り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1618488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636776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eiryo"/>
              </a:defRPr>
            </a:pPr>
            <a:r>
              <a:t>エリアの価格トレンド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1956816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1975104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eiryo"/>
              </a:defRPr>
            </a:pPr>
            <a:r>
              <a:t>メリット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2295144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31343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eiryo"/>
              </a:defRPr>
            </a:pPr>
            <a:r>
              <a:t>デメリット・注意点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2633472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651760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eiryo"/>
              </a:defRPr>
            </a:pPr>
            <a:r>
              <a:t>2030年に向けた戦略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2971800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990088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eiryo"/>
              </a:defRPr>
            </a:pPr>
            <a:r>
              <a:t>購入時のチェックポイント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3310128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328416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eiryo"/>
              </a:defRPr>
            </a:pPr>
            <a:r>
              <a:t>出典・参考情報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3648456"/>
            <a:ext cx="292608" cy="29260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666744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eiryo"/>
              </a:defRPr>
            </a:pPr>
            <a:r>
              <a:t>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🏢 ハイハイタウンとは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09090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9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【正式名称】 上本町ハイハイタウン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【竣工】 1980年9月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【構造】 鉄骨鉄筋コンクリート造（SRC造）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【規模】 地上15階・地下2階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【商業】 地下2階〜4階 = 商業施設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         （100店舗以上の飲食店・商店）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【住居】 上層階 = 住居（約287戸）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259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【所在地】 大阪府大阪市天王寺区</a:t>
            </a:r>
          </a:p>
          <a:p>
            <a:pPr algn="l">
              <a:spcAft>
                <a:spcPts val="259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           上本町6丁目3-31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188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🏗️ フロア構成イメージ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737360"/>
            <a:ext cx="1828800" cy="411480"/>
          </a:xfrm>
          <a:prstGeom prst="roundRect">
            <a:avLst/>
          </a:prstGeom>
          <a:solidFill>
            <a:srgbClr val="E0F2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15階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783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住居エリア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240280"/>
            <a:ext cx="1828800" cy="411480"/>
          </a:xfrm>
          <a:prstGeom prst="roundRect">
            <a:avLst/>
          </a:prstGeom>
          <a:solidFill>
            <a:srgbClr val="E0F2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2860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（約287戸）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743200"/>
            <a:ext cx="1828800" cy="411480"/>
          </a:xfrm>
          <a:prstGeom prst="roundRect">
            <a:avLst/>
          </a:prstGeom>
          <a:solidFill>
            <a:srgbClr val="E0F2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5階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7889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1LDK〜3LDK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246120"/>
            <a:ext cx="1828800" cy="411480"/>
          </a:xfrm>
          <a:prstGeom prst="roundRect">
            <a:avLst/>
          </a:prstGeom>
          <a:solidFill>
            <a:srgbClr val="FDF0D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4階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291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商業施設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749040"/>
            <a:ext cx="1828800" cy="411480"/>
          </a:xfrm>
          <a:prstGeom prst="roundRect">
            <a:avLst/>
          </a:prstGeom>
          <a:solidFill>
            <a:srgbClr val="FDF0D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7947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飲食店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251960"/>
            <a:ext cx="1828800" cy="411480"/>
          </a:xfrm>
          <a:prstGeom prst="roundRect">
            <a:avLst/>
          </a:prstGeom>
          <a:solidFill>
            <a:srgbClr val="FDF0D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1階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297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商店街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754880"/>
            <a:ext cx="1828800" cy="411480"/>
          </a:xfrm>
          <a:prstGeom prst="roundRect">
            <a:avLst/>
          </a:prstGeom>
          <a:solidFill>
            <a:srgbClr val="E8E0D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地下1階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8006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商業施設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5257800"/>
            <a:ext cx="1828800" cy="411480"/>
          </a:xfrm>
          <a:prstGeom prst="roundRect">
            <a:avLst/>
          </a:prstGeom>
          <a:solidFill>
            <a:srgbClr val="E0D8C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地下2階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53035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駐車場等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🚃 アクセスの良さ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09090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" name="Oval 3"/>
          <p:cNvSpPr/>
          <p:nvPr/>
        </p:nvSpPr>
        <p:spPr>
          <a:xfrm>
            <a:off x="4937760" y="2926080"/>
            <a:ext cx="1463040" cy="14630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ハイハイ</a:t>
            </a:r>
            <a:br/>
            <a:r>
              <a:t>タウン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286000" cy="1280160"/>
          </a:xfrm>
          <a:prstGeom prst="roundRect">
            <a:avLst/>
          </a:prstGeom>
          <a:solidFill>
            <a:srgbClr val="E83F3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近鉄</a:t>
            </a:r>
            <a:br/>
            <a:r>
              <a:t>大阪上本町駅</a:t>
            </a:r>
            <a:br/>
            <a:r>
              <a:t>（直結・徒歩1分）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2286000" cy="1280160"/>
          </a:xfrm>
          <a:prstGeom prst="roundRect">
            <a:avLst/>
          </a:prstGeom>
          <a:solidFill>
            <a:srgbClr val="2E86D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大阪メトロ</a:t>
            </a:r>
            <a:br/>
            <a:r>
              <a:t>谷町九丁目駅</a:t>
            </a:r>
            <a:br/>
            <a:r>
              <a:t>（徒歩3分）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828800"/>
            <a:ext cx="2286000" cy="1280160"/>
          </a:xfrm>
          <a:prstGeom prst="roundRect">
            <a:avLst/>
          </a:prstGeom>
          <a:solidFill>
            <a:srgbClr val="D4A01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近鉄百貨店</a:t>
            </a:r>
            <a:br/>
            <a:r>
              <a:t>（隣接）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4389120"/>
            <a:ext cx="2286000" cy="1280160"/>
          </a:xfrm>
          <a:prstGeom prst="roundRect">
            <a:avLst/>
          </a:prstGeom>
          <a:solidFill>
            <a:srgbClr val="00968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上本町</a:t>
            </a:r>
            <a:br/>
            <a:r>
              <a:t>YUFURA</a:t>
            </a:r>
            <a:br/>
            <a:r>
              <a:t>（隣接）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91840" y="2286000"/>
            <a:ext cx="1371600" cy="320040"/>
          </a:xfrm>
          <a:prstGeom prst="rightArrow">
            <a:avLst/>
          </a:prstGeom>
          <a:solidFill>
            <a:srgbClr val="E8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291840" y="4754880"/>
            <a:ext cx="1371600" cy="320040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583680" y="2286000"/>
            <a:ext cx="1371600" cy="32004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6583680" y="4754880"/>
            <a:ext cx="1371600" cy="320040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5760720"/>
            <a:ext cx="3474720" cy="822960"/>
          </a:xfrm>
          <a:prstGeom prst="roundRect">
            <a:avLst/>
          </a:prstGeom>
          <a:solidFill>
            <a:srgbClr val="E8EC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  <a:latin typeface="Meiryo"/>
              </a:defRPr>
            </a:pPr>
            <a:r>
              <a:t>🚃 難波まで 近鉄 約5分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5760720"/>
            <a:ext cx="3474720" cy="822960"/>
          </a:xfrm>
          <a:prstGeom prst="roundRect">
            <a:avLst/>
          </a:prstGeom>
          <a:solidFill>
            <a:srgbClr val="E8EC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  <a:latin typeface="Meiryo"/>
              </a:defRPr>
            </a:pPr>
            <a:r>
              <a:t>🚃 天王寺まで 地下鉄 約5分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5760720"/>
            <a:ext cx="3749039" cy="822960"/>
          </a:xfrm>
          <a:prstGeom prst="roundRect">
            <a:avLst/>
          </a:prstGeom>
          <a:solidFill>
            <a:srgbClr val="E8EC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  <a:latin typeface="Meiryo"/>
              </a:defRPr>
            </a:pPr>
            <a:r>
              <a:t>🚃 梅田まで 地下鉄 約15分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📐 建物スペック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09090"/>
                </a:solidFill>
                <a:latin typeface="Meiryo"/>
              </a:defRPr>
            </a:pPr>
            <a: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280160"/>
          <a:ext cx="9144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943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構造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鉄骨鉄筋コンクリート造（SRC造）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築年月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1980年9月（築約45年）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総戸数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約287戸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土地権利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所有権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管理体制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日勤管理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間取り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1LDK〜3LDK（約25㎡〜100㎡）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3949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09688"/>
                </a:solidFill>
                <a:latin typeface="Meiryo"/>
              </a:defRPr>
            </a:pPr>
            <a:r>
              <a:t>💡 SRC造とは？ → 鉄骨と鉄筋コンクリートを組み合わせた、とても丈夫な建て方。高層マンションによく使われます。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🗺️ 周辺施設マップ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09090"/>
                </a:solidFill>
                <a:latin typeface="Meiryo"/>
              </a:defRPr>
            </a:pPr>
            <a: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560320"/>
            <a:ext cx="3200400" cy="1828800"/>
          </a:xfrm>
          <a:prstGeom prst="round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🏠 ハイハイタウン</a:t>
            </a:r>
            <a:br/>
            <a:r>
              <a:t>（100店舗以上の商業施設＋住居）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926080" cy="914400"/>
          </a:xfrm>
          <a:prstGeom prst="roundRect">
            <a:avLst/>
          </a:prstGeom>
          <a:solidFill>
            <a:srgbClr val="D4A01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🏬 近鉄百貨店</a:t>
            </a:r>
            <a:br/>
            <a:r>
              <a:t>隣接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926080" cy="914400"/>
          </a:xfrm>
          <a:prstGeom prst="roundRect">
            <a:avLst/>
          </a:prstGeom>
          <a:solidFill>
            <a:srgbClr val="00968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🏢 上本町YUFURA</a:t>
            </a:r>
            <a:br/>
            <a:r>
              <a:t>隣接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2926080" cy="914400"/>
          </a:xfrm>
          <a:prstGeom prst="roundRect">
            <a:avLst/>
          </a:prstGeom>
          <a:solidFill>
            <a:srgbClr val="2E86D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🏥 大阪赤十字病院</a:t>
            </a:r>
            <a:br/>
            <a:r>
              <a:t>徒歩10分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2926080" cy="914400"/>
          </a:xfrm>
          <a:prstGeom prst="roundRect">
            <a:avLst/>
          </a:prstGeom>
          <a:solidFill>
            <a:srgbClr val="7B1FA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🏫 学校（複数）</a:t>
            </a:r>
            <a:br/>
            <a:r>
              <a:t>徒歩圏内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371600"/>
            <a:ext cx="2926080" cy="914400"/>
          </a:xfrm>
          <a:prstGeom prst="roundRect">
            <a:avLst/>
          </a:prstGeom>
          <a:solidFill>
            <a:srgbClr val="00968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🏪 コンビニ</a:t>
            </a:r>
            <a:br/>
            <a:r>
              <a:t>徒歩1分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743200"/>
            <a:ext cx="2926080" cy="914400"/>
          </a:xfrm>
          <a:prstGeom prst="roundRect">
            <a:avLst/>
          </a:prstGeom>
          <a:solidFill>
            <a:srgbClr val="2E7D3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🛒 スーパー</a:t>
            </a:r>
            <a:br/>
            <a:r>
              <a:t>徒歩3分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4114800"/>
            <a:ext cx="2926080" cy="914400"/>
          </a:xfrm>
          <a:prstGeom prst="roundRect">
            <a:avLst/>
          </a:prstGeom>
          <a:solidFill>
            <a:srgbClr val="E83F3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🍜 飲食店100店舗+</a:t>
            </a:r>
            <a:br/>
            <a:r>
              <a:t>館内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5486400"/>
            <a:ext cx="2926080" cy="914400"/>
          </a:xfrm>
          <a:prstGeom prst="round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🚃 2路線利用可</a:t>
            </a:r>
            <a:br/>
            <a:r>
              <a:t>直結〜徒歩3分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📊 現在の売出し状況（2026年3月）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09090"/>
                </a:solidFill>
                <a:latin typeface="Meiryo"/>
              </a:defRPr>
            </a:pPr>
            <a: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1097280"/>
          </a:xfrm>
          <a:prstGeom prst="roundRect">
            <a:avLst/>
          </a:prstGeom>
          <a:solidFill>
            <a:srgbClr val="00968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📦 掲載物件数</a:t>
            </a:r>
            <a:br/>
            <a:r>
              <a:t>33件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3474720" cy="1097280"/>
          </a:xfrm>
          <a:prstGeom prst="roundRect">
            <a:avLst/>
          </a:prstGeom>
          <a:solidFill>
            <a:srgbClr val="D4A01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💰 価格レンジ</a:t>
            </a:r>
            <a:br/>
            <a:r>
              <a:t>1800万〜13800万円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188720"/>
            <a:ext cx="3566160" cy="1097280"/>
          </a:xfrm>
          <a:prstGeom prst="round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📈 平均㎡単価</a:t>
            </a:r>
            <a:br/>
            <a:r>
              <a:t>81.4万円/㎡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56032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286000"/>
                <a:gridCol w="484632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間取り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価格（万円）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面積（㎡）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最寄り駅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2DK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1800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42.1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地下鉄谷町線「四天王寺前夕陽ケ丘」徒歩4分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2DK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1800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42.1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地下鉄谷町線「四天王寺前夕陽ケ丘」徒歩4分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1DK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1980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44.8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地下鉄谷町線「谷町九丁目」徒歩5分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1DK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44.8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地下鉄谷町線「谷町九丁目」徒歩5分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1LDK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3199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54.2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地下鉄谷町線「谷町九丁目」徒歩4分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1LDK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3199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54.2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地下鉄谷町線「谷町九丁目」徒歩3分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1LDK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3199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54.2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地下鉄谷町線「谷町九丁目」徒歩3分</a:t>
                      </a:r>
                    </a:p>
                  </a:txBody>
                  <a:tcPr anchor="ctr">
                    <a:solidFill>
                      <a:srgbClr val="F5F5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2LDK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3280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72.7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地下鉄谷町線「谷町九丁目」徒歩4分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📊 価格帯分布（図解）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09090"/>
                </a:solidFill>
                <a:latin typeface="Meiryo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eiryo"/>
              </a:defRPr>
            </a:pPr>
            <a:r>
              <a:t>〜2000万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536192"/>
            <a:ext cx="3048000" cy="448056"/>
          </a:xfrm>
          <a:prstGeom prst="roundRect">
            <a:avLst/>
          </a:prstGeom>
          <a:solidFill>
            <a:srgbClr val="2E86D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56960" y="1463040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E86DE"/>
                </a:solidFill>
                <a:latin typeface="Meiryo"/>
              </a:defRPr>
            </a:pPr>
            <a:r>
              <a:t>4件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eiryo"/>
              </a:defRPr>
            </a:pPr>
            <a:r>
              <a:t>2000〜3000万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267712"/>
            <a:ext cx="274320" cy="448056"/>
          </a:xfrm>
          <a:prstGeom prst="roundRect">
            <a:avLst/>
          </a:prstGeom>
          <a:solidFill>
            <a:srgbClr val="00968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194560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Meiryo"/>
              </a:defRPr>
            </a:pPr>
            <a:r>
              <a:t>0件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eiryo"/>
              </a:defRPr>
            </a:pPr>
            <a:r>
              <a:t>3000〜4000万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999232"/>
            <a:ext cx="6858000" cy="448056"/>
          </a:xfrm>
          <a:prstGeom prst="roundRect">
            <a:avLst/>
          </a:prstGeom>
          <a:solidFill>
            <a:srgbClr val="2E7D3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0" y="2926080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eiryo"/>
              </a:defRPr>
            </a:pPr>
            <a:r>
              <a:t>9件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eiryo"/>
              </a:defRPr>
            </a:pPr>
            <a:r>
              <a:t>4000〜5000万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730752"/>
            <a:ext cx="5334000" cy="448056"/>
          </a:xfrm>
          <a:prstGeom prst="roundRect">
            <a:avLst/>
          </a:prstGeom>
          <a:solidFill>
            <a:srgbClr val="D4A01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2960" y="3657600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D4A01E"/>
                </a:solidFill>
                <a:latin typeface="Meiryo"/>
              </a:defRPr>
            </a:pPr>
            <a:r>
              <a:t>7件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eiryo"/>
              </a:defRPr>
            </a:pPr>
            <a:r>
              <a:t>5000〜7000万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4462272"/>
            <a:ext cx="3048000" cy="448056"/>
          </a:xfrm>
          <a:prstGeom prst="roundRect">
            <a:avLst/>
          </a:prstGeom>
          <a:solidFill>
            <a:srgbClr val="E83F3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6960" y="4389120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E83F3F"/>
                </a:solidFill>
                <a:latin typeface="Meiryo"/>
              </a:defRPr>
            </a:pPr>
            <a:r>
              <a:t>4件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eiryo"/>
              </a:defRPr>
            </a:pPr>
            <a:r>
              <a:t>7000万〜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5193792"/>
            <a:ext cx="6858000" cy="448056"/>
          </a:xfrm>
          <a:prstGeom prst="roundRect">
            <a:avLst/>
          </a:prstGeom>
          <a:solidFill>
            <a:srgbClr val="7B1FA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5120640"/>
            <a:ext cx="1371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Meiryo"/>
              </a:defRPr>
            </a:pPr>
            <a:r>
              <a:t>9件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09688"/>
                </a:solidFill>
                <a:latin typeface="Meiryo"/>
              </a:defRPr>
            </a:pPr>
            <a:r>
              <a:t>💡 上本町エリアは3000〜5000万円台の物件が多く、ファミリー層に人気のエリアです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💰 ㎡単価の分析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09090"/>
                </a:solidFill>
                <a:latin typeface="Meiryo"/>
              </a:defRPr>
            </a:pPr>
            <a: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1645920"/>
          </a:xfrm>
          <a:prstGeom prst="roundRect">
            <a:avLst/>
          </a:prstGeom>
          <a:solidFill>
            <a:srgbClr val="E0F2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💡 ㎡単価（へいべいたんか）って何？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1㎡あたりの値段のこと。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物件の大きさが違っても、㎡単価で比べると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「割高か割安か」がすぐわかります！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📊 ㎡単価の比較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2743200" cy="914400"/>
          </a:xfrm>
          <a:prstGeom prst="roundRect">
            <a:avLst/>
          </a:prstGeom>
          <a:solidFill>
            <a:srgbClr val="D4A01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ハイハイタウン</a:t>
            </a:r>
            <a:br/>
            <a:r>
              <a:t>（上本町エリア）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737360"/>
            <a:ext cx="228600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4A01E"/>
                </a:solidFill>
                <a:latin typeface="Meiryo"/>
              </a:defRPr>
            </a:pPr>
            <a:r>
              <a:t>81.4万円/㎡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2743200" cy="914400"/>
          </a:xfrm>
          <a:prstGeom prst="roundRect">
            <a:avLst/>
          </a:prstGeom>
          <a:solidFill>
            <a:srgbClr val="00968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上本町エリア平均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2926080"/>
            <a:ext cx="228600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9688"/>
                </a:solidFill>
                <a:latin typeface="Meiryo"/>
              </a:defRPr>
            </a:pPr>
            <a:r>
              <a:t>約60〜67万円/㎡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114800"/>
            <a:ext cx="2743200" cy="914400"/>
          </a:xfrm>
          <a:prstGeom prst="roundRect">
            <a:avLst/>
          </a:prstGeom>
          <a:solidFill>
            <a:srgbClr val="2E86D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大阪市中古</a:t>
            </a:r>
            <a:br/>
            <a:r>
              <a:t>マンション平均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4114800"/>
            <a:ext cx="228600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86DE"/>
                </a:solidFill>
                <a:latin typeface="Meiryo"/>
              </a:defRPr>
            </a:pPr>
            <a:r>
              <a:t>約55万円/㎡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530352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📌 ポイント解説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ハイハイタウンの㎡単価は約81.4万円/㎡で、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エリア平均（60〜67万円）より高めです。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理由: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・近鉄大阪上本町駅に直結（駅直結プレミアム）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・商業施設併設で利便性が高い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・所有権物件（借地権ではない）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→ 立地の良さが価格に反映されています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📅 築年数と価格の関係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09090"/>
                </a:solidFill>
                <a:latin typeface="Meiryo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eiryo"/>
              </a:defRPr>
            </a:pPr>
            <a:r>
              <a:t>築年数が古いほど㎡単価は安くなる傾向がありますが、立地の良さが価格を支えます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20040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  <a:latin typeface="Meiryo"/>
              </a:defRPr>
            </a:pPr>
            <a:r>
              <a:t>築5年以内</a:t>
            </a:r>
            <a:br/>
            <a:r>
              <a:t>（2021年〜）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103120"/>
            <a:ext cx="7772400" cy="640080"/>
          </a:xfrm>
          <a:prstGeom prst="roundRect">
            <a:avLst/>
          </a:prstGeom>
          <a:solidFill>
            <a:srgbClr val="E83F3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0" y="214884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E83F3F"/>
                </a:solidFill>
                <a:latin typeface="Meiryo"/>
              </a:defRPr>
            </a:pPr>
            <a:r>
              <a:t>130〜153万円/㎡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320040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  <a:latin typeface="Meiryo"/>
              </a:defRPr>
            </a:pPr>
            <a:r>
              <a:t>築20〜25年</a:t>
            </a:r>
            <a:br/>
            <a:r>
              <a:t>（2000年前後）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200400"/>
            <a:ext cx="5029200" cy="640080"/>
          </a:xfrm>
          <a:prstGeom prst="roundRect">
            <a:avLst/>
          </a:prstGeom>
          <a:solidFill>
            <a:srgbClr val="D4A01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324612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D4A01E"/>
                </a:solidFill>
                <a:latin typeface="Meiryo"/>
              </a:defRPr>
            </a:pPr>
            <a:r>
              <a:t>74〜94万円/㎡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320040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  <a:latin typeface="Meiryo"/>
              </a:defRPr>
            </a:pPr>
            <a:r>
              <a:t>築40年以上</a:t>
            </a:r>
            <a:br/>
            <a:r>
              <a:t>（1984年以前）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4297680"/>
            <a:ext cx="3200400" cy="640080"/>
          </a:xfrm>
          <a:prstGeom prst="roundRect">
            <a:avLst/>
          </a:prstGeom>
          <a:solidFill>
            <a:srgbClr val="00968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434340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Meiryo"/>
              </a:defRPr>
            </a:pPr>
            <a:r>
              <a:t>42〜70万円/㎡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03520"/>
            <a:ext cx="3200400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  <a:latin typeface="Meiryo"/>
              </a:defRPr>
            </a:pPr>
            <a:r>
              <a:t>ハイハイタウン</a:t>
            </a:r>
            <a:br/>
            <a:r>
              <a:t>（1980年・築45年）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5394960"/>
            <a:ext cx="3657600" cy="640080"/>
          </a:xfrm>
          <a:prstGeom prst="round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544068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Meiryo"/>
              </a:defRPr>
            </a:pPr>
            <a:r>
              <a:t>54〜79万円/㎡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669280"/>
            <a:ext cx="11247120" cy="822960"/>
          </a:xfrm>
          <a:prstGeom prst="roundRect">
            <a:avLst/>
          </a:prstGeom>
          <a:solidFill>
            <a:srgbClr val="FDF0D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  <a:latin typeface="Meiryo"/>
              </a:defRPr>
            </a:pPr>
            <a:r>
              <a:t>💡 ハイハイタウンは築45年超ですが、駅直結という立地プレミアムがあるため、同年代の物件と比べて価格が維持されています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💹 賃貸利回り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09090"/>
                </a:solidFill>
                <a:latin typeface="Meiryo"/>
              </a:defRPr>
            </a:pPr>
            <a: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1828800"/>
          </a:xfrm>
          <a:prstGeom prst="roundRect">
            <a:avLst/>
          </a:prstGeom>
          <a:solidFill>
            <a:srgbClr val="E0F2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💡 利回り（りまわり）って何？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マンションを買って人に貸したとき、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1年間でもらえる家賃が、購入価格の何%か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を表す数字です。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数字が大きいほど、投資として効率が良い！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2560320" cy="1828800"/>
          </a:xfrm>
          <a:prstGeom prst="roundRect">
            <a:avLst/>
          </a:prstGeom>
          <a:solidFill>
            <a:srgbClr val="D4A01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想定利回り</a:t>
            </a:r>
            <a:br/>
            <a:r>
              <a:t>約4.55%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188720"/>
            <a:ext cx="2468880" cy="1828800"/>
          </a:xfrm>
          <a:prstGeom prst="roundRect">
            <a:avLst/>
          </a:prstGeom>
          <a:solidFill>
            <a:srgbClr val="00968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平均家賃</a:t>
            </a:r>
            <a:br/>
            <a:r>
              <a:t>約8,522円/坪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1124712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📝 具体例でわかる利回り計算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【例】3,990万円で購入した2LDK（73.87㎡）を貸す場合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  ① 坪数を計算:  73.87㎡ ÷ 3.3058 ≒ 22.35坪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  ② 月額家賃を計算:  8,522円 × 22.35坪 ≒ 190,467円/月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  ③ 年間家賃を計算:  190,467円 × 12ヶ月 ≒ 2,285,604円/年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  ④ 利回りを計算:  2,285,604円 ÷ 39,900,000円 × 100 ≒ 5.7%</a:t>
            </a:r>
          </a:p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360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→ 毎月約19万円の家賃収入が見込めます 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📈 エリアの価格トレンド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09090"/>
                </a:solidFill>
                <a:latin typeface="Meiryo"/>
              </a:defRPr>
            </a:pPr>
            <a: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1371600"/>
          </a:xfrm>
          <a:prstGeom prst="roundRect">
            <a:avLst/>
          </a:prstGeom>
          <a:solidFill>
            <a:srgbClr val="E83F3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上本町駅周辺</a:t>
            </a:r>
            <a:br/>
            <a:r>
              <a:t>前年比 +2.14%📈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3474720" cy="1371600"/>
          </a:xfrm>
          <a:prstGeom prst="roundRect">
            <a:avLst/>
          </a:prstGeom>
          <a:solidFill>
            <a:srgbClr val="D4A01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大阪市全体</a:t>
            </a:r>
            <a:br/>
            <a:r>
              <a:t>マンション価格</a:t>
            </a:r>
            <a:br/>
            <a:r>
              <a:t>上昇傾向📈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188720"/>
            <a:ext cx="3566160" cy="1371600"/>
          </a:xfrm>
          <a:prstGeom prst="roundRect">
            <a:avLst/>
          </a:prstGeom>
          <a:solidFill>
            <a:srgbClr val="2E86D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2025〜2026年</a:t>
            </a:r>
            <a:br/>
            <a:r>
              <a:t>市場は堅調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11247120" cy="3474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📊 上本町エリアの市場概況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● 大阪市内の中古マンション価格は2020年以降、継続的に上昇しています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● 上本町エリアは、近鉄・大阪メトロの交通利便性が高く、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  教育環境も良いことから、ファミリー層に根強い人気があります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● 2025年の大阪万博開催を契機に、大阪市内全体の不動産需要が活発化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● 上本町駅周辺の㎡単価は前年比 +2.14% で推移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  → 都心部ほどの急激な上昇はなく、安定した成長を見せています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● 今後も交通利便性と生活環境の良さから、堅調な推移が見込まれます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✅ ハイハイタウンのメリット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09090"/>
                </a:solidFill>
                <a:latin typeface="Meiryo"/>
              </a:defRPr>
            </a:pPr>
            <a:r>
              <a:t>13</a:t>
            </a:r>
          </a:p>
        </p:txBody>
      </p:sp>
      <p:sp>
        <p:nvSpPr>
          <p:cNvPr id="4" name="Oval 3"/>
          <p:cNvSpPr/>
          <p:nvPr/>
        </p:nvSpPr>
        <p:spPr>
          <a:xfrm>
            <a:off x="1051560" y="1371600"/>
            <a:ext cx="1005840" cy="10058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B2A4A"/>
                </a:solidFill>
                <a:latin typeface="Meiryo"/>
              </a:defRPr>
            </a:pPr>
            <a:r>
              <a:t>駅直結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2103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eiryo"/>
              </a:defRPr>
            </a:pPr>
            <a:r>
              <a:t>近鉄大阪上本町駅に直結。</a:t>
            </a:r>
            <a:br/>
            <a:r>
              <a:t>雨の日も濡れずに帰宅できます</a:t>
            </a:r>
          </a:p>
        </p:txBody>
      </p:sp>
      <p:sp>
        <p:nvSpPr>
          <p:cNvPr id="7" name="Oval 6"/>
          <p:cNvSpPr/>
          <p:nvPr/>
        </p:nvSpPr>
        <p:spPr>
          <a:xfrm>
            <a:off x="3337560" y="1371600"/>
            <a:ext cx="1005840" cy="10058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B2A4A"/>
                </a:solidFill>
                <a:latin typeface="Meiryo"/>
              </a:defRPr>
            </a:pPr>
            <a:r>
              <a:t>商業施設併設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108960"/>
            <a:ext cx="2103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eiryo"/>
              </a:defRPr>
            </a:pPr>
            <a:r>
              <a:t>1階〜4階に100店舗以上。</a:t>
            </a:r>
            <a:br/>
            <a:r>
              <a:t>日常の買い物に困りません</a:t>
            </a:r>
          </a:p>
        </p:txBody>
      </p:sp>
      <p:sp>
        <p:nvSpPr>
          <p:cNvPr id="10" name="Oval 9"/>
          <p:cNvSpPr/>
          <p:nvPr/>
        </p:nvSpPr>
        <p:spPr>
          <a:xfrm>
            <a:off x="5623560" y="1371600"/>
            <a:ext cx="1005840" cy="10058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56032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B2A4A"/>
                </a:solidFill>
                <a:latin typeface="Meiryo"/>
              </a:defRPr>
            </a:pPr>
            <a:r>
              <a:t>所有権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108960"/>
            <a:ext cx="2103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eiryo"/>
              </a:defRPr>
            </a:pPr>
            <a:r>
              <a:t>借地権ではなく所有権。</a:t>
            </a:r>
            <a:br/>
            <a:r>
              <a:t>将来の資産価値が安定</a:t>
            </a:r>
          </a:p>
        </p:txBody>
      </p:sp>
      <p:sp>
        <p:nvSpPr>
          <p:cNvPr id="13" name="Oval 12"/>
          <p:cNvSpPr/>
          <p:nvPr/>
        </p:nvSpPr>
        <p:spPr>
          <a:xfrm>
            <a:off x="7909560" y="1371600"/>
            <a:ext cx="1005840" cy="10058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👨‍💼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56032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B2A4A"/>
                </a:solidFill>
                <a:latin typeface="Meiryo"/>
              </a:defRPr>
            </a:pPr>
            <a:r>
              <a:t>管理体制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108960"/>
            <a:ext cx="2103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eiryo"/>
              </a:defRPr>
            </a:pPr>
            <a:r>
              <a:t>日勤管理で安心。</a:t>
            </a:r>
            <a:br/>
            <a:r>
              <a:t>管理組合がしっかり運営</a:t>
            </a:r>
          </a:p>
        </p:txBody>
      </p:sp>
      <p:sp>
        <p:nvSpPr>
          <p:cNvPr id="16" name="Oval 15"/>
          <p:cNvSpPr/>
          <p:nvPr/>
        </p:nvSpPr>
        <p:spPr>
          <a:xfrm>
            <a:off x="10195560" y="1371600"/>
            <a:ext cx="1005840" cy="10058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56032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B2A4A"/>
                </a:solidFill>
                <a:latin typeface="Meiryo"/>
              </a:defRPr>
            </a:pPr>
            <a:r>
              <a:t>2路線利用可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108960"/>
            <a:ext cx="2103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eiryo"/>
              </a:defRPr>
            </a:pPr>
            <a:r>
              <a:t>近鉄と大阪メトロの2路線。</a:t>
            </a:r>
            <a:br/>
            <a:r>
              <a:t>難波・天王寺・梅田へ快適アクセス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29200"/>
            <a:ext cx="11247120" cy="1371600"/>
          </a:xfrm>
          <a:prstGeom prst="roundRect">
            <a:avLst/>
          </a:prstGeom>
          <a:solidFill>
            <a:srgbClr val="E0F2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B2A4A"/>
                </a:solidFill>
                <a:latin typeface="Meiryo"/>
              </a:defRPr>
            </a:pPr>
            <a:r>
              <a:t>💡 まとめ：「住む」にも「投資」にも魅力的な立地条件。駅直結＋商業併設＋所有権は、上本町エリアでも希少な組み合わせです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⚠️ デメリット・注意点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09090"/>
                </a:solidFill>
                <a:latin typeface="Meiryo"/>
              </a:defRPr>
            </a:pPr>
            <a:r>
              <a:t>14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E8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1371600"/>
            <a:ext cx="411480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4173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83F3F"/>
                </a:solidFill>
                <a:latin typeface="Meiryo"/>
              </a:defRPr>
            </a:pPr>
            <a:r>
              <a:t>⚠️ 築45年超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83080"/>
            <a:ext cx="3657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1980年竣工のため旧耐震基準。</a:t>
            </a:r>
            <a:br/>
            <a:r>
              <a:t>耐震診断・補強の有無を確認が必須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E8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651760"/>
            <a:ext cx="411480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6974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83F3F"/>
                </a:solidFill>
                <a:latin typeface="Meiryo"/>
              </a:defRPr>
            </a:pPr>
            <a:r>
              <a:t>⚠️ 大規模修繕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63240"/>
            <a:ext cx="3657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これまでの修繕履歴と</a:t>
            </a:r>
            <a:br/>
            <a:r>
              <a:t>今後の計画・積立金残高を確認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E8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3931920"/>
            <a:ext cx="411480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977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83F3F"/>
                </a:solidFill>
                <a:latin typeface="Meiryo"/>
              </a:defRPr>
            </a:pPr>
            <a:r>
              <a:t>⚠️ 管理費・修繕積立金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343400"/>
            <a:ext cx="3657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築年数が古い物件は</a:t>
            </a:r>
            <a:br/>
            <a:r>
              <a:t>修繕積立金が高額になる傾向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303520"/>
            <a:ext cx="548640" cy="548640"/>
          </a:xfrm>
          <a:prstGeom prst="ellipse">
            <a:avLst/>
          </a:prstGeom>
          <a:solidFill>
            <a:srgbClr val="E8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5212080"/>
            <a:ext cx="411480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5257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83F3F"/>
                </a:solidFill>
                <a:latin typeface="Meiryo"/>
              </a:defRPr>
            </a:pPr>
            <a:r>
              <a:t>⚠️ 駐車場の空き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623560"/>
            <a:ext cx="3657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タワー型の場合は</a:t>
            </a:r>
            <a:br/>
            <a:r>
              <a:t>空き状況と利用料を事前確認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0"/>
            <a:ext cx="5029200" cy="5029200"/>
          </a:xfrm>
          <a:prstGeom prst="roundRect">
            <a:avLst/>
          </a:prstGeom>
          <a:solidFill>
            <a:srgbClr val="E8EC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🛡️ 対策・リスク軽減のポイント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① 管理組合の議事録を取り寄せ、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   修繕計画の進捗を確認する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② 耐震診断が実施済みかどうか、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   また補強工事の実績を確認する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③ 修繕積立金の月額と残高を確認。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   将来の値上げ予定もチェック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④ リフォーム済み物件を選ぶと、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   入居後の追加費用を抑えられる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⑤ 複数の不動産会社に相談し、</a:t>
            </a:r>
          </a:p>
          <a:p>
            <a:pPr algn="l">
              <a:spcAft>
                <a:spcPts val="239"/>
              </a:spcAft>
              <a:defRPr sz="1200" b="0">
                <a:solidFill>
                  <a:srgbClr val="1A1A2E"/>
                </a:solidFill>
                <a:latin typeface="Meiryo"/>
              </a:defRPr>
            </a:pPr>
            <a:r>
              <a:t>   物件の市場評価を比較する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🎯 2030年に向けた戦略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09090"/>
                </a:solidFill>
                <a:latin typeface="Meiryo"/>
              </a:defRPr>
            </a:pPr>
            <a: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520440"/>
            <a:ext cx="10332720" cy="73152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3108960"/>
            <a:ext cx="822960" cy="822960"/>
          </a:xfrm>
          <a:prstGeom prst="ellipse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2377440"/>
            <a:ext cx="36576" cy="73152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828800" cy="1005840"/>
          </a:xfrm>
          <a:prstGeom prst="roundRect">
            <a:avLst/>
          </a:prstGeom>
          <a:solidFill>
            <a:srgbClr val="2E86D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市場監視開始</a:t>
            </a:r>
            <a:br/>
            <a:r>
              <a:t>データ蓄積</a:t>
            </a:r>
          </a:p>
        </p:txBody>
      </p:sp>
      <p:sp>
        <p:nvSpPr>
          <p:cNvPr id="8" name="Oval 7"/>
          <p:cNvSpPr/>
          <p:nvPr/>
        </p:nvSpPr>
        <p:spPr>
          <a:xfrm>
            <a:off x="3383280" y="3108960"/>
            <a:ext cx="822960" cy="8229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2027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40" y="3611880"/>
            <a:ext cx="36576" cy="685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17520" y="4297680"/>
            <a:ext cx="1828800" cy="1005840"/>
          </a:xfrm>
          <a:prstGeom prst="roundRect">
            <a:avLst/>
          </a:prstGeom>
          <a:solidFill>
            <a:srgbClr val="00968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狙い目の間取り</a:t>
            </a:r>
            <a:br/>
            <a:r>
              <a:t>階数を絞る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3108960"/>
            <a:ext cx="822960" cy="82296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2028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2377440"/>
            <a:ext cx="36576" cy="7315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1371600"/>
            <a:ext cx="1828800" cy="1005840"/>
          </a:xfrm>
          <a:prstGeom prst="roundRect">
            <a:avLst/>
          </a:prstGeom>
          <a:solidFill>
            <a:srgbClr val="D4A01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資金計画</a:t>
            </a:r>
            <a:br/>
            <a:r>
              <a:t>の確定</a:t>
            </a:r>
          </a:p>
        </p:txBody>
      </p:sp>
      <p:sp>
        <p:nvSpPr>
          <p:cNvPr id="14" name="Oval 13"/>
          <p:cNvSpPr/>
          <p:nvPr/>
        </p:nvSpPr>
        <p:spPr>
          <a:xfrm>
            <a:off x="7589520" y="3108960"/>
            <a:ext cx="822960" cy="822960"/>
          </a:xfrm>
          <a:prstGeom prst="ellipse">
            <a:avLst/>
          </a:prstGeom>
          <a:solidFill>
            <a:srgbClr val="E8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2029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3611880"/>
            <a:ext cx="36576" cy="685800"/>
          </a:xfrm>
          <a:prstGeom prst="rect">
            <a:avLst/>
          </a:prstGeom>
          <a:solidFill>
            <a:srgbClr val="E8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60" y="4297680"/>
            <a:ext cx="1828800" cy="1005840"/>
          </a:xfrm>
          <a:prstGeom prst="roundRect">
            <a:avLst/>
          </a:prstGeom>
          <a:solidFill>
            <a:srgbClr val="E83F3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購入タイミング</a:t>
            </a:r>
            <a:br/>
            <a:r>
              <a:t>を見極め</a:t>
            </a:r>
          </a:p>
        </p:txBody>
      </p:sp>
      <p:sp>
        <p:nvSpPr>
          <p:cNvPr id="17" name="Oval 16"/>
          <p:cNvSpPr/>
          <p:nvPr/>
        </p:nvSpPr>
        <p:spPr>
          <a:xfrm>
            <a:off x="9692640" y="3108960"/>
            <a:ext cx="822960" cy="8229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2030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2377440"/>
            <a:ext cx="36576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0" y="1371600"/>
            <a:ext cx="1828800" cy="1005840"/>
          </a:xfrm>
          <a:prstGeom prst="round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物件取得！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669280"/>
            <a:ext cx="11247120" cy="822960"/>
          </a:xfrm>
          <a:prstGeom prst="roundRect">
            <a:avLst/>
          </a:prstGeom>
          <a:solidFill>
            <a:srgbClr val="FDF0D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  <a:latin typeface="Meiryo"/>
              </a:defRPr>
            </a:pPr>
            <a:r>
              <a:t>💡 焦らず計画的に。4年間のデータ蓄積で「最適なタイミング」が見えてきます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✅ 購入時のチェックポイント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09090"/>
                </a:solidFill>
                <a:latin typeface="Meiryo"/>
              </a:defRPr>
            </a:pPr>
            <a:r>
              <a:t>16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280160"/>
            <a:ext cx="960120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325880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Meiryo"/>
              </a:defRPr>
            </a:pPr>
            <a:r>
              <a:t>管理組合の議事録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9164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過去の議事録を確認し、トラブル履歴や将来の計画をチェック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37744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331720"/>
            <a:ext cx="960120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377440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Meiryo"/>
              </a:defRPr>
            </a:pPr>
            <a:r>
              <a:t>大規模修繕の計画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74320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修繕積立金の残高と、次回の大規模修繕の時期を確認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42900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383280"/>
            <a:ext cx="960120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3429000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Meiryo"/>
              </a:defRPr>
            </a:pPr>
            <a:r>
              <a:t>リフォーム履歴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79476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水回り・電気設備の更新状況。リフォーム済みだと安心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48056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🏗️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434840"/>
            <a:ext cx="960120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4480560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Meiryo"/>
              </a:defRPr>
            </a:pPr>
            <a:r>
              <a:t>耐震診断・補強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84632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旧耐震基準の物件なので、耐震診断結果と補強の有無を確認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53212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🏙️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5486400"/>
            <a:ext cx="960120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5532120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Meiryo"/>
              </a:defRPr>
            </a:pPr>
            <a:r>
              <a:t>周辺の再開発計画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897880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大阪市の都市計画をチェック。再開発があると資産価値UP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📚 出典・参考情報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09090"/>
                </a:solidFill>
                <a:latin typeface="Meiryo"/>
              </a:defRPr>
            </a:pPr>
            <a:r>
              <a:t>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46304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4173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Meiryo"/>
              </a:defRPr>
            </a:pPr>
            <a:r>
              <a:t>SUUMO（スーモ）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173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E86DE"/>
                </a:solidFill>
                <a:latin typeface="Meiryo"/>
              </a:defRPr>
            </a:pPr>
            <a:r>
              <a:t>https://suumo.jp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5564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  <a:latin typeface="Meiryo"/>
              </a:defRPr>
            </a:pPr>
            <a:r>
              <a:t>物件情報・価格データ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1051560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42316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3774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Meiryo"/>
              </a:defRPr>
            </a:pPr>
            <a:r>
              <a:t>マンションレビュー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37744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E86DE"/>
                </a:solidFill>
                <a:latin typeface="Meiryo"/>
              </a:defRPr>
            </a:pPr>
            <a:r>
              <a:t>https://www.mansion-review.jp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7157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  <a:latin typeface="Meiryo"/>
              </a:defRPr>
            </a:pPr>
            <a:r>
              <a:t>口コミ・評価・利回り情報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1051560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38328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3375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Meiryo"/>
              </a:defRPr>
            </a:pPr>
            <a:r>
              <a:t>マンションマーケット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3375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E86DE"/>
                </a:solidFill>
                <a:latin typeface="Meiryo"/>
              </a:defRPr>
            </a:pPr>
            <a:r>
              <a:t>https://mansion-market.com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67588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  <a:latin typeface="Meiryo"/>
              </a:defRPr>
            </a:pPr>
            <a:r>
              <a:t>㎡単価・価格トレンド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1051560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34340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29768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Meiryo"/>
              </a:defRPr>
            </a:pPr>
            <a:r>
              <a:t>LIFULL HOME'S 住まいインデックス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2976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E86DE"/>
                </a:solidFill>
                <a:latin typeface="Meiryo"/>
              </a:defRPr>
            </a:pPr>
            <a:r>
              <a:t>https://lifullhomes-index.jp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6360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  <a:latin typeface="Meiryo"/>
              </a:defRPr>
            </a:pPr>
            <a:r>
              <a:t>エリア価格推移データ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12080"/>
            <a:ext cx="10515600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0352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2578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Meiryo"/>
              </a:defRPr>
            </a:pPr>
            <a:r>
              <a:t>国土交通省 不動産情報ライブラリ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2578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E86DE"/>
                </a:solidFill>
                <a:latin typeface="Meiryo"/>
              </a:defRPr>
            </a:pPr>
            <a:r>
              <a:t>https://www.reinfolib.mlit.go.jp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59612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  <a:latin typeface="Meiryo"/>
              </a:defRPr>
            </a:pPr>
            <a:r>
              <a:t>公示地価・取引価格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  <a:latin typeface="Meiryo"/>
              </a:defRPr>
            </a:pPr>
            <a:r>
              <a:t>※ 掲載データは2026年3月時点の情報です。最新情報は各サイトでご確認ください。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📝 まとめ ― 美玖のコメント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09090"/>
                </a:solidFill>
                <a:latin typeface="Meiryo"/>
              </a:defRPr>
            </a:pPr>
            <a:r>
              <a:t>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Meiryo"/>
              </a:defRPr>
            </a:pPr>
            <a:r>
              <a:t>💬 美玖の総合評価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上本町ハイハイタウンは、築45年超の物件ですが、「駅直結」「商業施設併設」「所有権」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という3つの大きな強みを持つ、上本町エリアでも希少な物件です。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390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㎡単価はエリア平均よりやや高めですが、それは立地プレミアムの証。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特に近鉄大阪上本町駅に直結している利便性は、将来の資産価値を支える大きな要因です。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1A1A2E"/>
                </a:solidFill>
                <a:latin typeface="Meiryo"/>
              </a:defRPr>
            </a:pPr>
          </a:p>
          <a:p>
            <a:pPr algn="l">
              <a:spcAft>
                <a:spcPts val="390"/>
              </a:spcAft>
              <a:defRPr sz="1300" b="0">
                <a:solidFill>
                  <a:srgbClr val="1A1A2E"/>
                </a:solidFill>
                <a:latin typeface="Meiryo"/>
              </a:defRPr>
            </a:pPr>
            <a:r>
              <a:t>2030年の購入に向けて、今から市場を監視し、データを蓄積していくことをおすすめします。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3474720" cy="2286000"/>
          </a:xfrm>
          <a:prstGeom prst="roundRect">
            <a:avLst/>
          </a:prstGeom>
          <a:solidFill>
            <a:srgbClr val="00968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🔑 立地</a:t>
            </a:r>
            <a:br/>
            <a:br/>
            <a:r>
              <a:t>駅直結+2路線</a:t>
            </a:r>
            <a:br/>
            <a:r>
              <a:t>利用可能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114800"/>
            <a:ext cx="3474720" cy="2286000"/>
          </a:xfrm>
          <a:prstGeom prst="roundRect">
            <a:avLst/>
          </a:prstGeom>
          <a:solidFill>
            <a:srgbClr val="D4A01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🔑 価格</a:t>
            </a:r>
            <a:br/>
            <a:br/>
            <a:r>
              <a:t>㎡単価 81.4万円</a:t>
            </a:r>
            <a:br/>
            <a:r>
              <a:t>エリア平均より高め</a:t>
            </a:r>
            <a:br/>
            <a:r>
              <a:t>だが立地で納得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114800"/>
            <a:ext cx="3474720" cy="2286000"/>
          </a:xfrm>
          <a:prstGeom prst="roundRect">
            <a:avLst/>
          </a:prstGeom>
          <a:solidFill>
            <a:srgbClr val="1B2A4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🔑 戦略</a:t>
            </a:r>
            <a:br/>
            <a:br/>
            <a:r>
              <a:t>2030年目標で</a:t>
            </a:r>
            <a:br/>
            <a:r>
              <a:t>4年間じっくり</a:t>
            </a:r>
            <a:br/>
            <a:r>
              <a:t>準備する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